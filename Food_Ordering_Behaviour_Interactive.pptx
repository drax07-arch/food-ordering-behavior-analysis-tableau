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69d6054f-9d49-0558-0758-c6122abc1dfa}">
          <p14:sldIdLst>
            <p14:sldId id="256"/>
          </p14:sldIdLst>
        </p14:section>
        <p14:section name="Overview 2" id="{e6e0dfdf-6b8c-2cdf-fc87-c24d02d09ae0}">
          <p14:sldIdLst>
            <p14:sldId id="257"/>
          </p14:sldIdLst>
        </p14:section>
        <p14:section name="Overview 3" id="{b7293d59-bfdf-084d-ddc4-96044d9e6858}">
          <p14:sldIdLst>
            <p14:sldId id="258"/>
          </p14:sldIdLst>
        </p14:section>
        <p14:section name="Overview 4" id="{a911625c-95c6-86ba-92bf-b677111aa56f}">
          <p14:sldIdLst>
            <p14:sldId id="259"/>
          </p14:sldIdLst>
        </p14:section>
        <p14:section name="Overview 5" id="{4e1e94de-fe76-e1e1-c996-1c29ede515f1}">
          <p14:sldIdLst>
            <p14:sldId id="260"/>
          </p14:sldIdLst>
        </p14:section>
        <p14:section name="Dashboard 6" id="{ee9baa12-da31-4701-e6bf-37e4c09507a2}">
          <p14:sldIdLst>
            <p14:sldId id="261"/>
          </p14:sldIdLst>
        </p14:section>
        <p14:section name="Dashboard 7" id="{d3eb9028-feb6-22e8-87ad-04a71dd20ca8}">
          <p14:sldIdLst>
            <p14:sldId id="262"/>
          </p14:sldIdLst>
        </p14:section>
        <p14:section name="Dashboard 8" id="{4998fc78-f5a1-1185-3887-dcd07bbc1ca3}">
          <p14:sldIdLst>
            <p14:sldId id="263"/>
          </p14:sldIdLst>
        </p14:section>
        <p14:section name="Dashboard 9" id="{85ecca61-3ba1-6a97-a41f-1b796fe6dd41}">
          <p14:sldIdLst>
            <p14:sldId id="264"/>
          </p14:sldIdLst>
        </p14:section>
        <p14:section name="Dashboard 10" id="{8ad0ef37-deec-de7e-fbab-903b7a742775}">
          <p14:sldIdLst>
            <p14:sldId id="265"/>
          </p14:sldIdLst>
        </p14:section>
        <p14:section name="Insights 11" id="{aca7f8ef-419f-b533-9e9a-e87bfc9e3979}">
          <p14:sldIdLst>
            <p14:sldId id="266"/>
          </p14:sldIdLst>
        </p14:section>
        <p14:section name="Insights 12" id="{7cea8372-f0af-4c27-8245-9bfec9414bac}">
          <p14:sldIdLst>
            <p14:sldId id="267"/>
          </p14:sldIdLst>
        </p14:section>
        <p14:section name="Wrap-up 13" id="{e21295e5-3abc-de16-ce0b-87bcb2e7015b}">
          <p14:sldIdLst>
            <p14:sldId id="268"/>
          </p14:sldIdLst>
        </p14:section>
        <p14:section name="Wrap-up 14" id="{70e75725-3585-d325-0d02-85369cf96f4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+mn-lt"/>
              </a:rPr>
              <a:t>Orders by city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F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Mumbai</c:v>
                  </c:pt>
                  <c:pt idx="1">
                    <c:v>Pune</c:v>
                  </c:pt>
                  <c:pt idx="2">
                    <c:v>Bangalore</c:v>
                  </c:pt>
                  <c:pt idx="3">
                    <c:v>Delhi</c:v>
                  </c:pt>
                  <c:pt idx="4">
                    <c:v>Chandigarh</c:v>
                  </c:pt>
                  <c:pt idx="5">
                    <c:v>Hyderabad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8443</c:v>
                </c:pt>
                <c:pt idx="1">
                  <c:v>8354</c:v>
                </c:pt>
                <c:pt idx="2">
                  <c:v>8353</c:v>
                </c:pt>
                <c:pt idx="3">
                  <c:v>8309</c:v>
                </c:pt>
                <c:pt idx="4">
                  <c:v>8279</c:v>
                </c:pt>
                <c:pt idx="5">
                  <c:v>8262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+mn-lt"/>
              </a:rPr>
              <a:t>Share of orders by cuisine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5759"/>
              </a:solidFill>
              <a:effectLst/>
            </c:spPr>
          </c:dPt>
          <c:dPt>
            <c:idx val="1"/>
            <c:bubble3D val="0"/>
            <c:spPr>
              <a:solidFill>
                <a:srgbClr val="F28E2B"/>
              </a:solidFill>
              <a:effectLst/>
            </c:spPr>
          </c:dPt>
          <c:dPt>
            <c:idx val="2"/>
            <c:bubble3D val="0"/>
            <c:spPr>
              <a:solidFill>
                <a:srgbClr val="4E79A7"/>
              </a:solidFill>
              <a:effectLst/>
            </c:spPr>
          </c:dPt>
          <c:dPt>
            <c:idx val="3"/>
            <c:bubble3D val="0"/>
            <c:spPr>
              <a:solidFill>
                <a:srgbClr val="76B7B2"/>
              </a:solidFill>
              <a:effectLst/>
            </c:spPr>
          </c:dPt>
          <c:dPt>
            <c:idx val="4"/>
            <c:bubble3D val="0"/>
            <c:spPr>
              <a:solidFill>
                <a:srgbClr val="59A14F"/>
              </a:solidFill>
              <a:effectLst/>
            </c:spPr>
          </c:dPt>
          <c:dPt>
            <c:idx val="5"/>
            <c:bubble3D val="0"/>
            <c:spPr>
              <a:solidFill>
                <a:srgbClr val="EDC948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.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Desserts</c:v>
                </c:pt>
                <c:pt idx="1">
                  <c:v>Fast Food</c:v>
                </c:pt>
                <c:pt idx="2">
                  <c:v>Chinese</c:v>
                </c:pt>
                <c:pt idx="3">
                  <c:v>South Indian</c:v>
                </c:pt>
                <c:pt idx="4">
                  <c:v>Biryani</c:v>
                </c:pt>
                <c:pt idx="5">
                  <c:v>North Indian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8452</c:v>
                </c:pt>
                <c:pt idx="1">
                  <c:v>8368</c:v>
                </c:pt>
                <c:pt idx="2">
                  <c:v>8351</c:v>
                </c:pt>
                <c:pt idx="3">
                  <c:v>8301</c:v>
                </c:pt>
                <c:pt idx="4">
                  <c:v>8300</c:v>
                </c:pt>
                <c:pt idx="5">
                  <c:v>8228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+mn-lt"/>
              </a:rPr>
              <a:t>Orders by minutes taken to order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F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0–1</c:v>
                  </c:pt>
                  <c:pt idx="1">
                    <c:v>2–3</c:v>
                  </c:pt>
                  <c:pt idx="2">
                    <c:v>4–5</c:v>
                  </c:pt>
                  <c:pt idx="3">
                    <c:v>6–7</c:v>
                  </c:pt>
                  <c:pt idx="4">
                    <c:v>8–9</c:v>
                  </c:pt>
                  <c:pt idx="5">
                    <c:v>10–11</c:v>
                  </c:pt>
                  <c:pt idx="6">
                    <c:v>12–13</c:v>
                  </c:pt>
                  <c:pt idx="7">
                    <c:v>14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3572</c:v>
                </c:pt>
                <c:pt idx="1">
                  <c:v>7158</c:v>
                </c:pt>
                <c:pt idx="2">
                  <c:v>7058</c:v>
                </c:pt>
                <c:pt idx="3">
                  <c:v>7234</c:v>
                </c:pt>
                <c:pt idx="4">
                  <c:v>7199</c:v>
                </c:pt>
                <c:pt idx="5">
                  <c:v>7113</c:v>
                </c:pt>
                <c:pt idx="6">
                  <c:v>7043</c:v>
                </c:pt>
                <c:pt idx="7">
                  <c:v>3623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  <c:min val="0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+mn-lt"/>
              </a:rPr>
              <a:t>Order value by age group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4E79A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Millennial</c:v>
                  </c:pt>
                  <c:pt idx="1">
                    <c:v>GenZ</c:v>
                  </c:pt>
                  <c:pt idx="2">
                    <c:v>Adult</c:v>
                  </c:pt>
                  <c:pt idx="3">
                    <c:v>Child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3.37</c:v>
                </c:pt>
                <c:pt idx="1">
                  <c:v>3.33</c:v>
                </c:pt>
                <c:pt idx="2">
                  <c:v>1.42</c:v>
                </c:pt>
                <c:pt idx="3">
                  <c:v>1.02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Mid-range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Millennial</c:v>
                  </c:pt>
                  <c:pt idx="1">
                    <c:v>GenZ</c:v>
                  </c:pt>
                  <c:pt idx="2">
                    <c:v>Adult</c:v>
                  </c:pt>
                  <c:pt idx="3">
                    <c:v>Child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3.31</c:v>
                </c:pt>
                <c:pt idx="1">
                  <c:v>3.3</c:v>
                </c:pt>
                <c:pt idx="2">
                  <c:v>1.35</c:v>
                </c:pt>
                <c:pt idx="3">
                  <c:v>1.03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E1575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Millennial</c:v>
                  </c:pt>
                  <c:pt idx="1">
                    <c:v>GenZ</c:v>
                  </c:pt>
                  <c:pt idx="2">
                    <c:v>Adult</c:v>
                  </c:pt>
                  <c:pt idx="3">
                    <c:v>Child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3.43</c:v>
                </c:pt>
                <c:pt idx="1">
                  <c:v>3.43</c:v>
                </c:pt>
                <c:pt idx="2">
                  <c:v>1.36</c:v>
                </c:pt>
                <c:pt idx="3">
                  <c:v>1.04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+mn-lt"/>
              </a:rPr>
              <a:t>Order value by company (Pune · Chinese · Snacks)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value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Alone</c:v>
                  </c:pt>
                  <c:pt idx="1">
                    <c:v>Family</c:v>
                  </c:pt>
                  <c:pt idx="2">
                    <c:v>Friends</c:v>
                  </c:pt>
                  <c:pt idx="3">
                    <c:v>Partner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56770</c:v>
                </c:pt>
                <c:pt idx="1">
                  <c:v>40822</c:v>
                </c:pt>
                <c:pt idx="2">
                  <c:v>47431</c:v>
                </c:pt>
                <c:pt idx="3">
                  <c:v>51062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0"/>
          <c:min val="0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+mn-lt"/>
              </a:rPr>
              <a:t>Order value by meal type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value</c:v>
                </c:pt>
              </c:strCache>
            </c:strRef>
          </c:tx>
          <c:spPr>
            <a:solidFill>
              <a:srgbClr val="2F54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Breakfast</c:v>
                  </c:pt>
                  <c:pt idx="1">
                    <c:v>Lunch</c:v>
                  </c:pt>
                  <c:pt idx="2">
                    <c:v>Snacks</c:v>
                  </c:pt>
                  <c:pt idx="3">
                    <c:v>Dinner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6.92</c:v>
                </c:pt>
                <c:pt idx="1">
                  <c:v>6.86</c:v>
                </c:pt>
                <c:pt idx="2">
                  <c:v>6.86</c:v>
                </c:pt>
                <c:pt idx="3">
                  <c:v>6.75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+mn-lt"/>
              </a:rPr>
              <a:t>Average rating by meal type (out of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76B7B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Breakfast</c:v>
                  </c:pt>
                  <c:pt idx="1">
                    <c:v>Lunch</c:v>
                  </c:pt>
                  <c:pt idx="2">
                    <c:v>Snacks</c:v>
                  </c:pt>
                  <c:pt idx="3">
                    <c:v>Dinner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3.01</c:v>
                </c:pt>
                <c:pt idx="1">
                  <c:v>2.99</c:v>
                </c:pt>
                <c:pt idx="2">
                  <c:v>2.986</c:v>
                </c:pt>
                <c:pt idx="3">
                  <c:v>2.992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summarizes the Food Ordering Behaviour dashboard built in Tableau from 50,000 orders. Click any topic to jump to it; Home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food ordering is part of daily urban life. The project analyzes 50,000 orders across six 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that raw order records do not show where demand is concentrated.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50,000 orders, 19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missing values; age groups reconstructed from dashboard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dashboard with four KPI cards, eight charts and three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 map: colour is order count, labels are delivery-fee totals. City orders from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Cuisine shares are almost equal; order time is evenly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value by age group and restaurant type; company view for Pune, Chinese, Snacks.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Breakfast leads revenue; ratings are about 3.0 for every meal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and six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actions that follow from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and measurement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message: balanced demand, a few small gaps, and the value of interactivity.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Go2" Type="http://schemas.openxmlformats.org/officeDocument/2006/relationships/slide" Target="slide2.xml"/><Relationship Id="rIdGo3" Type="http://schemas.openxmlformats.org/officeDocument/2006/relationships/slide" Target="slide3.xml"/><Relationship Id="rIdGo4" Type="http://schemas.openxmlformats.org/officeDocument/2006/relationships/slide" Target="slide4.xml"/><Relationship Id="rIdGo5" Type="http://schemas.openxmlformats.org/officeDocument/2006/relationships/slide" Target="slide5.xml"/><Relationship Id="rIdGo6" Type="http://schemas.openxmlformats.org/officeDocument/2006/relationships/slide" Target="slide6.xml"/><Relationship Id="rIdGo7" Type="http://schemas.openxmlformats.org/officeDocument/2006/relationships/slide" Target="slide7.xml"/><Relationship Id="rIdGo8" Type="http://schemas.openxmlformats.org/officeDocument/2006/relationships/slide" Target="slide8.xml"/><Relationship Id="rIdGo9" Type="http://schemas.openxmlformats.org/officeDocument/2006/relationships/slide" Target="slide9.xml"/><Relationship Id="rIdGo10" Type="http://schemas.openxmlformats.org/officeDocument/2006/relationships/slide" Target="slide10.xml"/><Relationship Id="rIdGo11" Type="http://schemas.openxmlformats.org/officeDocument/2006/relationships/slide" Target="slide11.xml"/><Relationship Id="rIdGo12" Type="http://schemas.openxmlformats.org/officeDocument/2006/relationships/slide" Target="slide12.xml"/><Relationship Id="rIdGo13" Type="http://schemas.openxmlformats.org/officeDocument/2006/relationships/slide" Target="slide13.xml"/><Relationship Id="rIdGo14" Type="http://schemas.openxmlformats.org/officeDocument/2006/relationships/slide" Target="slide1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Go1" Type="http://schemas.openxmlformats.org/officeDocument/2006/relationships/slide" Target="slide1.xml"/><Relationship Id="rIdGo3" Type="http://schemas.openxmlformats.org/officeDocument/2006/relationships/slide" Target="slide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Go1" Type="http://schemas.openxmlformats.org/officeDocument/2006/relationships/slide" Target="slide1.xml"/><Relationship Id="rIdGo2" Type="http://schemas.openxmlformats.org/officeDocument/2006/relationships/slide" Target="slide2.xml"/><Relationship Id="rIdGo4" Type="http://schemas.openxmlformats.org/officeDocument/2006/relationships/slide" Target="slide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Go1" Type="http://schemas.openxmlformats.org/officeDocument/2006/relationships/slide" Target="slide1.xml"/><Relationship Id="rIdGo3" Type="http://schemas.openxmlformats.org/officeDocument/2006/relationships/slide" Target="slide3.xml"/><Relationship Id="rIdGo5" Type="http://schemas.openxmlformats.org/officeDocument/2006/relationships/slide" Target="slide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Go1" Type="http://schemas.openxmlformats.org/officeDocument/2006/relationships/slide" Target="slide1.xml"/><Relationship Id="rIdGo4" Type="http://schemas.openxmlformats.org/officeDocument/2006/relationships/slide" Target="slide4.xml"/><Relationship Id="rIdGo6" Type="http://schemas.openxmlformats.org/officeDocument/2006/relationships/slide" Target="slide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Relationship Id="rIdGo1" Type="http://schemas.openxmlformats.org/officeDocument/2006/relationships/slide" Target="slide1.xml"/><Relationship Id="rIdGo5" Type="http://schemas.openxmlformats.org/officeDocument/2006/relationships/slide" Target="slide5.xml"/><Relationship Id="rIdGo7" Type="http://schemas.openxmlformats.org/officeDocument/2006/relationships/slide" Target="slide7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Relationship Id="rIdGo1" Type="http://schemas.openxmlformats.org/officeDocument/2006/relationships/slide" Target="slide1.xml"/><Relationship Id="rIdGo6" Type="http://schemas.openxmlformats.org/officeDocument/2006/relationships/slide" Target="slide6.xml"/><Relationship Id="rIdGo8" Type="http://schemas.openxmlformats.org/officeDocument/2006/relationships/slide" Target="slide8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Relationship Id="rIdGo1" Type="http://schemas.openxmlformats.org/officeDocument/2006/relationships/slide" Target="slide1.xml"/><Relationship Id="rIdGo7" Type="http://schemas.openxmlformats.org/officeDocument/2006/relationships/slide" Target="slide7.xml"/><Relationship Id="rIdGo9" Type="http://schemas.openxmlformats.org/officeDocument/2006/relationships/slide" Target="slide9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Relationship Id="rIdGo1" Type="http://schemas.openxmlformats.org/officeDocument/2006/relationships/slide" Target="slide1.xml"/><Relationship Id="rIdGo8" Type="http://schemas.openxmlformats.org/officeDocument/2006/relationships/slide" Target="slide8.xml"/><Relationship Id="rIdGo10" Type="http://schemas.openxmlformats.org/officeDocument/2006/relationships/slide" Target="slide10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Relationship Id="rIdGo1" Type="http://schemas.openxmlformats.org/officeDocument/2006/relationships/slide" Target="slide1.xml"/><Relationship Id="rIdGo9" Type="http://schemas.openxmlformats.org/officeDocument/2006/relationships/slide" Target="slide9.xml"/><Relationship Id="rIdGo11" Type="http://schemas.openxmlformats.org/officeDocument/2006/relationships/slide" Target="slide1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Go1" Type="http://schemas.openxmlformats.org/officeDocument/2006/relationships/slide" Target="slide1.xml"/><Relationship Id="rIdGo10" Type="http://schemas.openxmlformats.org/officeDocument/2006/relationships/slide" Target="slide10.xml"/><Relationship Id="rIdGo12" Type="http://schemas.openxmlformats.org/officeDocument/2006/relationships/slide" Target="slide1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Go1" Type="http://schemas.openxmlformats.org/officeDocument/2006/relationships/slide" Target="slide1.xml"/><Relationship Id="rIdGo11" Type="http://schemas.openxmlformats.org/officeDocument/2006/relationships/slide" Target="slide11.xml"/><Relationship Id="rIdGo13" Type="http://schemas.openxmlformats.org/officeDocument/2006/relationships/slide" Target="slide1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Go1" Type="http://schemas.openxmlformats.org/officeDocument/2006/relationships/slide" Target="slide1.xml"/><Relationship Id="rIdGo12" Type="http://schemas.openxmlformats.org/officeDocument/2006/relationships/slide" Target="slide12.xml"/><Relationship Id="rIdGo14" Type="http://schemas.openxmlformats.org/officeDocument/2006/relationships/slide" Target="slide1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Go1" Type="http://schemas.openxmlformats.org/officeDocument/2006/relationships/slide" Target="slide1.xml"/><Relationship Id="rIdGo13" Type="http://schemas.openxmlformats.org/officeDocument/2006/relationships/slide" Target="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Ordering Behaviour Analytics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project presentation. Click a topic to jump to it.</a:t>
            </a:r>
            <a:endParaRPr lang="en-US" sz="1400" dirty="0"/>
          </a:p>
        </p:txBody>
      </p:sp>
      <p:sp>
        <p:nvSpPr>
          <p:cNvPr id="5" name="go-2">
            <a:hlinkClick r:id="rIdGo2" action="ppaction://hlinksldjump"/>
          </p:cNvPr>
          <p:cNvSpPr/>
          <p:nvPr/>
        </p:nvSpPr>
        <p:spPr>
          <a:xfrm>
            <a:off x="640080" y="201168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go-3">
            <a:hlinkClick r:id="rIdGo3" action="ppaction://hlinksldjump"/>
          </p:cNvPr>
          <p:cNvSpPr/>
          <p:nvPr/>
        </p:nvSpPr>
        <p:spPr>
          <a:xfrm>
            <a:off x="2295144" y="201168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7" name="go-4">
            <a:hlinkClick r:id="rIdGo4" action="ppaction://hlinksldjump"/>
          </p:cNvPr>
          <p:cNvSpPr/>
          <p:nvPr/>
        </p:nvSpPr>
        <p:spPr>
          <a:xfrm>
            <a:off x="3950208" y="201168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go-5">
            <a:hlinkClick r:id="rIdGo5" action="ppaction://hlinksldjump"/>
          </p:cNvPr>
          <p:cNvSpPr/>
          <p:nvPr/>
        </p:nvSpPr>
        <p:spPr>
          <a:xfrm>
            <a:off x="5605272" y="201168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9" name="go-6">
            <a:hlinkClick r:id="rIdGo6" action="ppaction://hlinksldjump"/>
          </p:cNvPr>
          <p:cNvSpPr/>
          <p:nvPr/>
        </p:nvSpPr>
        <p:spPr>
          <a:xfrm>
            <a:off x="7260336" y="201168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200" dirty="0"/>
          </a:p>
        </p:txBody>
      </p:sp>
      <p:sp>
        <p:nvSpPr>
          <p:cNvPr id="10" name="go-7">
            <a:hlinkClick r:id="rIdGo7" action="ppaction://hlinksldjump"/>
          </p:cNvPr>
          <p:cNvSpPr/>
          <p:nvPr/>
        </p:nvSpPr>
        <p:spPr>
          <a:xfrm>
            <a:off x="640080" y="265176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&amp; Cuisines</a:t>
            </a:r>
            <a:endParaRPr lang="en-US" sz="1200" dirty="0"/>
          </a:p>
        </p:txBody>
      </p:sp>
      <p:sp>
        <p:nvSpPr>
          <p:cNvPr id="11" name="go-8">
            <a:hlinkClick r:id="rIdGo8" action="ppaction://hlinksldjump"/>
          </p:cNvPr>
          <p:cNvSpPr/>
          <p:nvPr/>
        </p:nvSpPr>
        <p:spPr>
          <a:xfrm>
            <a:off x="2295144" y="265176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&amp; Order Time</a:t>
            </a:r>
            <a:endParaRPr lang="en-US" sz="1200" dirty="0"/>
          </a:p>
        </p:txBody>
      </p:sp>
      <p:sp>
        <p:nvSpPr>
          <p:cNvPr id="12" name="go-9">
            <a:hlinkClick r:id="rIdGo9" action="ppaction://hlinksldjump"/>
          </p:cNvPr>
          <p:cNvSpPr/>
          <p:nvPr/>
        </p:nvSpPr>
        <p:spPr>
          <a:xfrm>
            <a:off x="3950208" y="265176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Company</a:t>
            </a:r>
            <a:endParaRPr lang="en-US" sz="1200" dirty="0"/>
          </a:p>
        </p:txBody>
      </p:sp>
      <p:sp>
        <p:nvSpPr>
          <p:cNvPr id="13" name="go-10">
            <a:hlinkClick r:id="rIdGo10" action="ppaction://hlinksldjump"/>
          </p:cNvPr>
          <p:cNvSpPr/>
          <p:nvPr/>
        </p:nvSpPr>
        <p:spPr>
          <a:xfrm>
            <a:off x="5605272" y="265176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&amp; Ratings</a:t>
            </a:r>
            <a:endParaRPr lang="en-US" sz="1200" dirty="0"/>
          </a:p>
        </p:txBody>
      </p:sp>
      <p:sp>
        <p:nvSpPr>
          <p:cNvPr id="14" name="go-11">
            <a:hlinkClick r:id="rIdGo11" action="ppaction://hlinksldjump"/>
          </p:cNvPr>
          <p:cNvSpPr/>
          <p:nvPr/>
        </p:nvSpPr>
        <p:spPr>
          <a:xfrm>
            <a:off x="7260336" y="265176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5" name="go-12">
            <a:hlinkClick r:id="rIdGo12" action="ppaction://hlinksldjump"/>
          </p:cNvPr>
          <p:cNvSpPr/>
          <p:nvPr/>
        </p:nvSpPr>
        <p:spPr>
          <a:xfrm>
            <a:off x="2295144" y="329184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6" name="go-13">
            <a:hlinkClick r:id="rIdGo13" action="ppaction://hlinksldjump"/>
          </p:cNvPr>
          <p:cNvSpPr/>
          <p:nvPr/>
        </p:nvSpPr>
        <p:spPr>
          <a:xfrm>
            <a:off x="3950208" y="329184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7" name="go-14">
            <a:hlinkClick r:id="rIdGo14" action="ppaction://hlinksldjump"/>
          </p:cNvPr>
          <p:cNvSpPr/>
          <p:nvPr/>
        </p:nvSpPr>
        <p:spPr>
          <a:xfrm>
            <a:off x="5605272" y="3291840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2F5496"/>
          </a:solidFill>
          <a:ln w="9525">
            <a:solidFill>
              <a:srgbClr val="8FAAD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1">
            <a:hlinkClick r:id="rIdGo1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3">
            <a:hlinkClick r:id="rIdGo3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ordering is now part of everyday urban life, across many cuisines, restaurant types and meal occasions.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need to know who orders, what they order, where, and how satisfied they are.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50,000 orders: city, cuisine, meal type, age group, company, order value, delivery fee, order time and ratings.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turns the dataset into one interactive dashboard with KPI cards, charts and parameters.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160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50,000 orders from six Indian cities; not a picture of the whole food-delivery market.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2">
            <a:hlinkClick r:id="rIdGo2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4">
            <a:hlinkClick r:id="rIdGo4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Problem card"/>
          <p:cNvSpPr/>
          <p:nvPr/>
        </p:nvSpPr>
        <p:spPr>
          <a:xfrm>
            <a:off x="457200" y="1097280"/>
            <a:ext cx="3840480" cy="2743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002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order records do not show which cities, cuisines, meal types or customer groups matter most, how revenue is spread, or whether satisfaction differs.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analyze food-ordering behaviour and present it as an interactive Tableau dashboard.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46304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KPIs: orders, value, fees, rating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cities and city–cuisine mixes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cuisine preference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spending by age group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ordering company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taken to order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ratings and meal-type revenue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exploration with parameters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3">
            <a:hlinkClick r:id="rIdGo3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5">
            <a:hlinkClick r:id="rIdGo5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tat records"/>
          <p:cNvSpPr/>
          <p:nvPr/>
        </p:nvSpPr>
        <p:spPr>
          <a:xfrm>
            <a:off x="457200" y="1097280"/>
            <a:ext cx="1536192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1188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373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10" name="Stat fields"/>
          <p:cNvSpPr/>
          <p:nvPr/>
        </p:nvSpPr>
        <p:spPr>
          <a:xfrm>
            <a:off x="2139696" y="1097280"/>
            <a:ext cx="1536192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139696" y="1188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139696" y="17373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00" dirty="0"/>
          </a:p>
        </p:txBody>
      </p:sp>
      <p:sp>
        <p:nvSpPr>
          <p:cNvPr id="13" name="Stat cities"/>
          <p:cNvSpPr/>
          <p:nvPr/>
        </p:nvSpPr>
        <p:spPr>
          <a:xfrm>
            <a:off x="3822192" y="1097280"/>
            <a:ext cx="1536192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822192" y="1188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822192" y="17373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300" dirty="0"/>
          </a:p>
        </p:txBody>
      </p:sp>
      <p:sp>
        <p:nvSpPr>
          <p:cNvPr id="16" name="Stat cuisines"/>
          <p:cNvSpPr/>
          <p:nvPr/>
        </p:nvSpPr>
        <p:spPr>
          <a:xfrm>
            <a:off x="5504688" y="1097280"/>
            <a:ext cx="1536192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504688" y="1188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5504688" y="17373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</a:t>
            </a:r>
            <a:endParaRPr lang="en-US" sz="1300" dirty="0"/>
          </a:p>
        </p:txBody>
      </p:sp>
      <p:sp>
        <p:nvSpPr>
          <p:cNvPr id="19" name="Stat meal types"/>
          <p:cNvSpPr/>
          <p:nvPr/>
        </p:nvSpPr>
        <p:spPr>
          <a:xfrm>
            <a:off x="7187184" y="1097280"/>
            <a:ext cx="1536192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187184" y="118872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7187184" y="173736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types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food_ordering_behavior_dataset.csv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83464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order_id, user_id, city, order_time, day_type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Food: cuisine, meal_type, restaurant_type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Spend: order_value, discount_applied, delivery_fee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age, company, mood, hunger_level, rainy_weather, repeat order, rating, time taken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4">
            <a:hlinkClick r:id="rIdGo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6">
            <a:hlinkClick r:id="rIdGo6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Preprocessing card"/>
          <p:cNvSpPr/>
          <p:nvPr/>
        </p:nvSpPr>
        <p:spPr>
          <a:xfrm>
            <a:off x="457200" y="1097280"/>
            <a:ext cx="3977640" cy="2743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Calculated fields card"/>
          <p:cNvSpPr/>
          <p:nvPr/>
        </p:nvSpPr>
        <p:spPr>
          <a:xfrm>
            <a:off x="4663440" y="1097280"/>
            <a:ext cx="4023360" cy="2743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57276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50,000 rows and 19 columns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any field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valid: age 18–44, rating 1–5, fee 20–99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order IDs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categories checked for consistency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 in Tableau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57276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 Child 18–20, GenZ 21–30, Millennial 31–40, Adult 41–44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 To Order in 2-minute bins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City, Cuisine, Meal 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count of orders; sums of value and fees; average rating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14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Age-group boundaries were reconstructed from the dashboard values.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5">
            <a:hlinkClick r:id="rIdGo5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7">
            <a:hlinkClick r:id="rIdGo7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cleaned dataset  →  4 KPI cards + 8 charts  →  1 dashboard with 3 parameters</a:t>
            </a:r>
            <a:endParaRPr lang="en-US" sz="1600" dirty="0"/>
          </a:p>
        </p:txBody>
      </p:sp>
      <p:pic>
        <p:nvPicPr>
          <p:cNvPr id="8" name="Dashboard screenshot" descr="Food Ordering Behaviour dashboard on Tableau Publ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5212080" cy="2577713"/>
          </a:xfrm>
          <a:prstGeom prst="rect">
            <a:avLst/>
          </a:prstGeom>
        </p:spPr>
      </p:pic>
      <p:sp>
        <p:nvSpPr>
          <p:cNvPr id="9" name="Group KPIs"/>
          <p:cNvSpPr/>
          <p:nvPr/>
        </p:nvSpPr>
        <p:spPr>
          <a:xfrm>
            <a:off x="5897880" y="1508760"/>
            <a:ext cx="2788920" cy="658368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016752" y="15636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016752" y="1819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order value, fees, rating</a:t>
            </a:r>
            <a:endParaRPr lang="en-US" sz="1200" dirty="0"/>
          </a:p>
        </p:txBody>
      </p:sp>
      <p:sp>
        <p:nvSpPr>
          <p:cNvPr id="12" name="Group Cities &amp; cuisine"/>
          <p:cNvSpPr/>
          <p:nvPr/>
        </p:nvSpPr>
        <p:spPr>
          <a:xfrm>
            <a:off x="5897880" y="2258568"/>
            <a:ext cx="2788920" cy="658368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016752" y="2313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&amp; cuisine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016752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map, city ranking, cuisine pie</a:t>
            </a:r>
            <a:endParaRPr lang="en-US" sz="1200" dirty="0"/>
          </a:p>
        </p:txBody>
      </p:sp>
      <p:sp>
        <p:nvSpPr>
          <p:cNvPr id="15" name="Group Customers"/>
          <p:cNvSpPr/>
          <p:nvPr/>
        </p:nvSpPr>
        <p:spPr>
          <a:xfrm>
            <a:off x="5897880" y="3008376"/>
            <a:ext cx="2788920" cy="658368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016752" y="3063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016752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group, company, order time</a:t>
            </a:r>
            <a:endParaRPr lang="en-US" sz="1200" dirty="0"/>
          </a:p>
        </p:txBody>
      </p:sp>
      <p:sp>
        <p:nvSpPr>
          <p:cNvPr id="18" name="Group Meals"/>
          <p:cNvSpPr/>
          <p:nvPr/>
        </p:nvSpPr>
        <p:spPr>
          <a:xfrm>
            <a:off x="5897880" y="3758184"/>
            <a:ext cx="2788920" cy="658368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016752" y="38130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016752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ratings by meal type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160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(City, Cuisine, Meal Type) filter selected charts; the captured view shows Pune, Chinese, Snacks.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&amp; Cuisines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6">
            <a:hlinkClick r:id="rIdGo6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8">
            <a:hlinkClick r:id="rIdGo8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pic>
        <p:nvPicPr>
          <p:cNvPr id="7" name="Heat map" descr="Flavours Across Cities hea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297680" cy="20219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3375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Mumbai–Desserts, 1,463 orders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Delhi–Chinese, 1,298 orders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= orders; labels = delivery-fee totals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937760" y="1097280"/>
          <a:ext cx="3749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93776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cities sit within 2.2% of each other; Mumbai leads.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&amp; Order Time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7">
            <a:hlinkClick r:id="rIdGo7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9">
            <a:hlinkClick r:id="rIdGo9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09728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 leads at 16.9%; North Indian trails at 16.5%, a gap of 0.45 points.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09728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7.5 minutes to place an order. Edge bins are half-height as they hold one value each.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Company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8">
            <a:hlinkClick r:id="rIdGo8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10">
            <a:hlinkClick r:id="rIdGo10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Millennials (31–40) and GenZ (21–30) bring about 74% of order value.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54880" y="109728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75488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 solo diners lead (29.0%), families trail (20.8%).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&amp; Ratings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9">
            <a:hlinkClick r:id="rIdGo9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11">
            <a:hlinkClick r:id="rIdGo11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09728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earns the most; Dinner is lowest, 2.6% below Breakfast.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663440" y="109728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does not differ between meal types; ratings split evenly across 1–5.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10">
            <a:hlinkClick r:id="rIdGo10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12">
            <a:hlinkClick r:id="rIdGo12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tat orders"/>
          <p:cNvSpPr/>
          <p:nvPr/>
        </p:nvSpPr>
        <p:spPr>
          <a:xfrm>
            <a:off x="457200" y="1051560"/>
            <a:ext cx="1920240" cy="10058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0" name="Stat order value"/>
          <p:cNvSpPr/>
          <p:nvPr/>
        </p:nvSpPr>
        <p:spPr>
          <a:xfrm>
            <a:off x="2542032" y="1051560"/>
            <a:ext cx="1920240" cy="10058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542032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27.39M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254203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</a:t>
            </a:r>
            <a:endParaRPr lang="en-US" sz="1300" dirty="0"/>
          </a:p>
        </p:txBody>
      </p:sp>
      <p:sp>
        <p:nvSpPr>
          <p:cNvPr id="13" name="Stat avg order"/>
          <p:cNvSpPr/>
          <p:nvPr/>
        </p:nvSpPr>
        <p:spPr>
          <a:xfrm>
            <a:off x="4626864" y="1051560"/>
            <a:ext cx="1920240" cy="10058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626864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626864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</a:t>
            </a:r>
            <a:endParaRPr lang="en-US" sz="1300" dirty="0"/>
          </a:p>
        </p:txBody>
      </p:sp>
      <p:sp>
        <p:nvSpPr>
          <p:cNvPr id="16" name="Stat avg rating"/>
          <p:cNvSpPr/>
          <p:nvPr/>
        </p:nvSpPr>
        <p:spPr>
          <a:xfrm>
            <a:off x="6711696" y="1051560"/>
            <a:ext cx="1920240" cy="100584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711696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711696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37744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cities are within 2.2%; Mumbai leads with 8,443 orders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 is the top cuisine at 16.9%; the gap to last is 0.45 points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Millennials and GenZ bring about 74% of order value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237744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is lowest in orders and revenue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split evenly across 1–5 stars; average 3.0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Discounts, weather and repeat orders barely change order value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11">
            <a:hlinkClick r:id="rIdGo11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13">
            <a:hlinkClick r:id="rIdGo13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Rec Boost dinner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dinner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is lowest in orders and revenue; test evening combos and offers.</a:t>
            </a:r>
            <a:endParaRPr lang="en-US" sz="1400" dirty="0"/>
          </a:p>
        </p:txBody>
      </p:sp>
      <p:sp>
        <p:nvSpPr>
          <p:cNvPr id="10" name="Rec Fix weak cells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8328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weak cells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Delhi–Chinese is the weakest cell; try local promotions and partners.</a:t>
            </a:r>
            <a:endParaRPr lang="en-US" sz="1400" dirty="0"/>
          </a:p>
        </p:txBody>
      </p:sp>
      <p:sp>
        <p:nvSpPr>
          <p:cNvPr id="13" name="Rec Target GenZ &amp; Millennials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17220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GenZ &amp; Millennials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bring about 74% of order value; build loyalty and premium offers.</a:t>
            </a:r>
            <a:endParaRPr lang="en-US" sz="1400" dirty="0"/>
          </a:p>
        </p:txBody>
      </p:sp>
      <p:sp>
        <p:nvSpPr>
          <p:cNvPr id="16" name="Rec Test group bundles"/>
          <p:cNvSpPr/>
          <p:nvPr/>
        </p:nvSpPr>
        <p:spPr>
          <a:xfrm>
            <a:off x="45720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9436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group bundles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diners lead in Pune–Chinese–Snacks; try solo meals and family bundles.</a:t>
            </a:r>
            <a:endParaRPr lang="en-US" sz="1400" dirty="0"/>
          </a:p>
        </p:txBody>
      </p:sp>
      <p:sp>
        <p:nvSpPr>
          <p:cNvPr id="19" name="Rec Probe satisfaction"/>
          <p:cNvSpPr/>
          <p:nvPr/>
        </p:nvSpPr>
        <p:spPr>
          <a:xfrm>
            <a:off x="324612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38328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satisfaction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38328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split evenly 1–5; collect the reasons behind low scores.</a:t>
            </a:r>
            <a:endParaRPr lang="en-US" sz="1400" dirty="0"/>
          </a:p>
        </p:txBody>
      </p:sp>
      <p:sp>
        <p:nvSpPr>
          <p:cNvPr id="22" name="Rec Fix dashboard labels"/>
          <p:cNvSpPr/>
          <p:nvPr/>
        </p:nvSpPr>
        <p:spPr>
          <a:xfrm>
            <a:off x="603504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17220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dashboard labels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titles with measures; show all six cities and age labels.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12">
            <a:hlinkClick r:id="rIdGo12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14">
            <a:hlinkClick r:id="rIdGo14" action="ppaction://hlinksldjump"/>
          </p:cNvPr>
          <p:cNvSpPr/>
          <p:nvPr/>
        </p:nvSpPr>
        <p:spPr>
          <a:xfrm>
            <a:off x="82753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cope card"/>
          <p:cNvSpPr/>
          <p:nvPr/>
        </p:nvSpPr>
        <p:spPr>
          <a:xfrm>
            <a:off x="457200" y="1097280"/>
            <a:ext cx="3977640" cy="2743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Measures card"/>
          <p:cNvSpPr/>
          <p:nvPr/>
        </p:nvSpPr>
        <p:spPr>
          <a:xfrm>
            <a:off x="4663440" y="1097280"/>
            <a:ext cx="4023360" cy="2743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57276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six Indian cities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date, so no trends over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balanced data: differences are small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Observational: no causation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572768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 reconstructed from dashboard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field is time to place the order, not delivery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charts are filtered to Pune, Chinese, Snacks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is not stated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13">
            <a:hlinkClick r:id="rIdGo13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revenue are spread evenly across six cities and six cuisines.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Pune and Desserts sit slightly ahead; Delhi–Chinese and Dinner slightly behind.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Millennials and GenZ are the most valuable age groups.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order times and discounts show few strong contrasts.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city, cuisine and meal-type parameters make the dashboard a tool for exploring segments.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labels and an order date would make it stronger for planning menus and promotions.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within the dataset’s limits: six cities, balanced data, no dates, observational.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Ordering Analytics">
  <a:themeElements>
    <a:clrScheme name="Food Ordering Analytics">
      <a:dk1>
        <a:srgbClr val="404040"/>
      </a:dk1>
      <a:lt1>
        <a:srgbClr val="FFFFFF"/>
      </a:lt1>
      <a:dk2>
        <a:srgbClr val="1F3864"/>
      </a:dk2>
      <a:lt2>
        <a:srgbClr val="EEF2F9"/>
      </a:lt2>
      <a:accent1>
        <a:srgbClr val="2F5496"/>
      </a:accent1>
      <a:accent2>
        <a:srgbClr val="ED7D31"/>
      </a:accent2>
      <a:accent3>
        <a:srgbClr val="4E79A7"/>
      </a:accent3>
      <a:accent4>
        <a:srgbClr val="F28E2B"/>
      </a:accent4>
      <a:accent5>
        <a:srgbClr val="E15759"/>
      </a:accent5>
      <a:accent6>
        <a:srgbClr val="76B7B2"/>
      </a:accent6>
      <a:hlink>
        <a:srgbClr val="2F5496"/>
      </a:hlink>
      <a:folHlink>
        <a:srgbClr val="1F3864"/>
      </a:folHlink>
    </a:clrScheme>
    <a:fontScheme name="Food Ordering Analyti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Ordering Behaviour Analytics</dc:title>
  <dc:subject>PptxGenJS Presentation</dc:subject>
  <dc:creator>Vinayak Pillai</dc:creator>
  <cp:lastModifiedBy>Vinayak Pillai</cp:lastModifiedBy>
  <cp:revision>1</cp:revision>
  <dcterms:created xsi:type="dcterms:W3CDTF">2026-10-06T11:28:57Z</dcterms:created>
  <dcterms:modified xsi:type="dcterms:W3CDTF">2026-10-06T11:28:57Z</dcterms:modified>
</cp:coreProperties>
</file>